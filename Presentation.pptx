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69494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7F9FC"/>
                </a:solidFill>
                <a:latin typeface="Aptos"/>
              </a:rPr>
              <a:t>Statistical Investigation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84831"/>
            <a:ext cx="822960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7F9FC"/>
                </a:solidFill>
                <a:latin typeface="Aptos"/>
              </a:rPr>
              <a:t>Diabetes Risk Factors and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761488"/>
            <a:ext cx="1874519" cy="64008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35808"/>
            <a:ext cx="8412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STA 281 — Statistical Methods and Probability  |  CEP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10712"/>
            <a:ext cx="89611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Submitted to: Md. Shohel Babu, Coordinator &amp; Assistant Professor, Southeast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069080"/>
            <a:ext cx="5440680" cy="16002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261104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72000"/>
            <a:ext cx="4892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M. Rafi-Ur-Rahman Alif  ·  2024100000006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818888"/>
            <a:ext cx="4892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Hridoy Chandra Das  ·  2024100000019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65776"/>
            <a:ext cx="4892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T.M. Shahriyar Kabir  ·  2024100000026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312664"/>
            <a:ext cx="4892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T.M. Ornima Akter  ·  2024100000042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4069080"/>
            <a:ext cx="1965960" cy="74980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20624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62686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Patients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4069080"/>
            <a:ext cx="64008" cy="749808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58784" y="4069080"/>
            <a:ext cx="1965960" cy="74980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420624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462686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Variables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8784" y="4069080"/>
            <a:ext cx="64008" cy="749808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4937760"/>
            <a:ext cx="1965960" cy="74980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507492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34.90%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549554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Diabetic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937760"/>
            <a:ext cx="64008" cy="749808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8784" y="4937760"/>
            <a:ext cx="1965960" cy="74980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23376" y="507492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0.4960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549554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Glucose–Outcome 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8784" y="4937760"/>
            <a:ext cx="64008" cy="749808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263640"/>
            <a:ext cx="3657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Date of Submission: 29 September 2026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0" y="640080"/>
            <a:ext cx="1325880" cy="1325880"/>
          </a:xfrm>
          <a:prstGeom prst="ellipse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8360" y="640080"/>
            <a:ext cx="1325880" cy="1325880"/>
          </a:xfrm>
          <a:prstGeom prst="ellipse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1 —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Dataset Overview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Pima Indians Diabetes Dataset • Python / Google Colab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28600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19568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768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40864"/>
            <a:ext cx="195681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4008" cy="932688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1783080"/>
            <a:ext cx="228600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19568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40864"/>
            <a:ext cx="195681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1783080"/>
            <a:ext cx="64008" cy="932688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96128" y="1783080"/>
            <a:ext cx="228600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920240"/>
            <a:ext cx="19568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340864"/>
            <a:ext cx="195681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Null entries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1783080"/>
            <a:ext cx="64008" cy="932688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783080"/>
            <a:ext cx="228600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19568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34.90%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195681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Diabetic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783080"/>
            <a:ext cx="64008" cy="932688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2971800"/>
            <a:ext cx="5349240" cy="265176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8211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29584"/>
            <a:ext cx="466344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7F9FC"/>
                </a:solidFill>
                <a:latin typeface="Aptos"/>
              </a:rPr>
              <a:t>Pregnancies  •  Glucose  •  BloodPressure</a:t>
            </a:r>
            <a:br/>
            <a:r>
              <a:t>SkinThickness  •  Insulin  •  BMI</a:t>
            </a:r>
            <a:br/>
            <a:r>
              <a:t>DiabetesPedigreeFunction  •  Age  • 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Outcome: 0 = Non-diabetic  |  1 = Diabetic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2971800"/>
            <a:ext cx="5166360" cy="265176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82112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PREPROCESSING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29584"/>
            <a:ext cx="4572000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t>•  Missing values checked with df.isnull().sum()</a:t>
            </a:r>
          </a:p>
          <a:p>
            <a:pPr>
              <a:spcAft>
                <a:spcPts val="7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t>•  No null entries reported in the loaded dataset</a:t>
            </a:r>
          </a:p>
          <a:p>
            <a:pPr>
              <a:spcAft>
                <a:spcPts val="7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t>•  Zero values in Glucose, BMI, BloodPressure and Insulin treated as missing information</a:t>
            </a:r>
          </a:p>
          <a:p>
            <a:pPr>
              <a:spcAft>
                <a:spcPts val="7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t>•  Central-value replacement was used before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48072"/>
            <a:ext cx="45720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The report notes that zero clinical measurements are physiologically implausible and would distort statistics if untreated.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1 —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Core metrics for Glucose, BMI, Age and Insulin (n = 768)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55648"/>
            <a:ext cx="205740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856231"/>
            <a:ext cx="191109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755648"/>
            <a:ext cx="132588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856231"/>
            <a:ext cx="11795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1648" y="1755648"/>
            <a:ext cx="132588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856231"/>
            <a:ext cx="11795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MEDIAN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7528" y="1755648"/>
            <a:ext cx="123444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856231"/>
            <a:ext cx="1088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1968" y="1755648"/>
            <a:ext cx="150876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56231"/>
            <a:ext cx="136245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VARIANCE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755648"/>
            <a:ext cx="1417320" cy="438912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856231"/>
            <a:ext cx="12710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0C7A6"/>
                </a:solidFill>
                <a:latin typeface="Aptos"/>
              </a:rPr>
              <a:t>STD.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12848"/>
            <a:ext cx="205740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350008"/>
            <a:ext cx="1911095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7F9FC"/>
                </a:solidFill>
                <a:latin typeface="Aptos"/>
              </a:rPr>
              <a:t>Glucose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15768" y="2212848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350008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121.68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2212848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2350008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117.00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67528" y="2212848"/>
            <a:ext cx="123444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350008"/>
            <a:ext cx="10881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99, 100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2212848"/>
            <a:ext cx="150876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50008"/>
            <a:ext cx="136245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928.07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2212848"/>
            <a:ext cx="141732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350008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30.46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779776"/>
            <a:ext cx="205740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2916936"/>
            <a:ext cx="1911095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7F9FC"/>
                </a:solidFill>
                <a:latin typeface="Aptos"/>
              </a:rPr>
              <a:t>BMI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2779776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2916936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32.43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41648" y="2779776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2916936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32.05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7528" y="2779776"/>
            <a:ext cx="123444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0680" y="2916936"/>
            <a:ext cx="10881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30.1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01968" y="2779776"/>
            <a:ext cx="150876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2916936"/>
            <a:ext cx="136245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47.34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0728" y="2779776"/>
            <a:ext cx="141732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2916936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6.88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346704"/>
            <a:ext cx="205740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19" y="3483864"/>
            <a:ext cx="1911095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7F9FC"/>
                </a:solidFill>
                <a:latin typeface="Aptos"/>
              </a:rPr>
              <a:t>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15768" y="3346704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3483864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33.24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41648" y="3346704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3483864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29.00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67528" y="3346704"/>
            <a:ext cx="123444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40680" y="3483864"/>
            <a:ext cx="10881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01968" y="3346704"/>
            <a:ext cx="150876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483864"/>
            <a:ext cx="136245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138.30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0728" y="3346704"/>
            <a:ext cx="141732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483864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11.76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3913631"/>
            <a:ext cx="205740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19" y="4050791"/>
            <a:ext cx="1911095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7F9FC"/>
                </a:solidFill>
                <a:latin typeface="Aptos"/>
              </a:rPr>
              <a:t>Insulin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15768" y="3913631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8920" y="4050791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141.75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41648" y="3913631"/>
            <a:ext cx="132588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0" y="4050791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102.50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67528" y="3913631"/>
            <a:ext cx="123444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4050791"/>
            <a:ext cx="10881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102.5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01968" y="3913631"/>
            <a:ext cx="150876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4050791"/>
            <a:ext cx="136245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7938.96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10728" y="3913631"/>
            <a:ext cx="1417320" cy="53035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83880" y="4050791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7F9FC"/>
                </a:solidFill>
                <a:latin typeface="Aptos"/>
              </a:rPr>
              <a:t>89.10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4553712"/>
            <a:ext cx="10744200" cy="1261872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4754880"/>
            <a:ext cx="10195560" cy="960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F7F9FC"/>
                </a:solidFill>
                <a:latin typeface="Aptos"/>
              </a:defRPr>
            </a:pPr>
            <a:r>
              <a:t>•  Glucose: mean 121.68 &gt; median 117.00 → mild right skew.</a:t>
            </a:r>
          </a:p>
          <a:p>
            <a:pPr>
              <a:spcAft>
                <a:spcPts val="700"/>
              </a:spcAft>
              <a:defRPr sz="1050">
                <a:solidFill>
                  <a:srgbClr val="F7F9FC"/>
                </a:solidFill>
                <a:latin typeface="Aptos"/>
              </a:defRPr>
            </a:pPr>
            <a:r>
              <a:t>•  BMI: mean 32.43 and median 32.05 are close → roughly symmetric; many patients are in the obese range.</a:t>
            </a:r>
          </a:p>
          <a:p>
            <a:pPr>
              <a:spcAft>
                <a:spcPts val="700"/>
              </a:spcAft>
              <a:defRPr sz="1050">
                <a:solidFill>
                  <a:srgbClr val="F7F9FC"/>
                </a:solidFill>
                <a:latin typeface="Aptos"/>
              </a:defRPr>
            </a:pPr>
            <a:r>
              <a:t>•  Age: mean 33.24 &gt; median 29.00 → right-skewed with a younger main cohort.</a:t>
            </a:r>
          </a:p>
          <a:p>
            <a:pPr>
              <a:spcAft>
                <a:spcPts val="700"/>
              </a:spcAft>
              <a:defRPr sz="1050">
                <a:solidFill>
                  <a:srgbClr val="F7F9FC"/>
                </a:solidFill>
                <a:latin typeface="Aptos"/>
              </a:defRPr>
            </a:pPr>
            <a:r>
              <a:t>•  Insulin: very large variance/SD and strong right skew; repeated 102.50 reflects preprocessing.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1 —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Distributions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Figures reproduced from the submitted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5349240" cy="214884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39" y="1755648"/>
            <a:ext cx="2359152" cy="18105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6208" y="1627632"/>
            <a:ext cx="5166360" cy="214884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96" y="1755648"/>
            <a:ext cx="2664527" cy="18105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4005072"/>
            <a:ext cx="10744200" cy="196596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202" y="4096512"/>
            <a:ext cx="2383674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925312"/>
            <a:ext cx="101498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Glucose: approximately bell-shaped but right-skewed; BMI shows upper outliers; Age–Glucose is weak positive (r = 0.2689).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2 —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Probability &amp; Bayes'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Diabetes probability updated using glucose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5166360" cy="36118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CONDITIONAL PROBABILITY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67712"/>
            <a:ext cx="201168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40487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34.90%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825496"/>
            <a:ext cx="16824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267712"/>
            <a:ext cx="64008" cy="96012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2267712"/>
            <a:ext cx="201168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0487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32.94%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25496"/>
            <a:ext cx="16824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P(Glucose &gt; 130)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2267712"/>
            <a:ext cx="64008" cy="96012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383280"/>
            <a:ext cx="201168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520440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20.96%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941064"/>
            <a:ext cx="16824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P(D ∩ 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383280"/>
            <a:ext cx="64008" cy="960120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27248" y="3383280"/>
            <a:ext cx="201168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520440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63.64%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941064"/>
            <a:ext cx="16824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P(D | 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27248" y="3383280"/>
            <a:ext cx="64008" cy="96012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90288"/>
            <a:ext cx="4526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7F9FC"/>
                </a:solidFill>
                <a:latin typeface="Aptos"/>
              </a:rPr>
              <a:t>High glucose &gt; 130 mg/dL raises the observed probability from 34.90% to 63.64%.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1664208"/>
            <a:ext cx="5303520" cy="36118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1874519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BAYES' THEOREM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267712"/>
            <a:ext cx="457200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7F9FC"/>
                </a:solidFill>
                <a:latin typeface="Aptos"/>
              </a:rPr>
              <a:t>P(D | G&gt;150) =</a:t>
            </a:r>
            <a:br/>
            <a:r>
              <a:t>[P(G&gt;150 | D) × P(D)] / P(G&gt;150)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182112"/>
            <a:ext cx="214884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19272"/>
            <a:ext cx="181965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39.18%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39896"/>
            <a:ext cx="181965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P(G&gt;150 | 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7648" y="3182112"/>
            <a:ext cx="64008" cy="96012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32520" y="3182112"/>
            <a:ext cx="214884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3319272"/>
            <a:ext cx="181965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18.23%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3739896"/>
            <a:ext cx="181965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P(G&gt;150)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3182112"/>
            <a:ext cx="64008" cy="960120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7648" y="4297680"/>
            <a:ext cx="4553712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434840"/>
            <a:ext cx="4224528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75.00%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855464"/>
            <a:ext cx="4224528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Posterior P(D | G&gt;150)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7648" y="4297680"/>
            <a:ext cx="64008" cy="96012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504688"/>
            <a:ext cx="10149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The posterior rises from 34.90% to 75.00% after observing glucose &gt; 150 mg/dL; 25% of these patients are still non-diabetic.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2 —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Binomial, Normal, Exponential &amp; CLT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Probability models used in the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5166360" cy="1874519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4708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BINOMIAL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7F9FC"/>
                </a:solidFill>
                <a:latin typeface="Aptos"/>
              </a:rPr>
              <a:t>n = 12, p = 0.31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23744"/>
            <a:ext cx="452628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P(X=4) = 23.49%</a:t>
            </a:r>
            <a:br/>
            <a:r>
              <a:t>P(X≥4) = 53.81%</a:t>
            </a:r>
            <a:br/>
            <a:r>
              <a:t>P(X≤4) = 69.68%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4526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7F9FC"/>
                </a:solidFill>
                <a:latin typeface="Aptos"/>
              </a:rPr>
              <a:t>Expected X = 3.72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166360" cy="1874519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84708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176272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7F9FC"/>
                </a:solidFill>
                <a:latin typeface="Aptos"/>
              </a:rPr>
              <a:t>μ = 125, σ =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523744"/>
            <a:ext cx="452628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P(X&lt;100) = 20.23%</a:t>
            </a:r>
            <a:br/>
            <a:r>
              <a:t>P(100&lt;X&lt;140) = 48.91%</a:t>
            </a:r>
            <a:br/>
            <a:r>
              <a:t>P(X&gt;150) = 20.23%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182112"/>
            <a:ext cx="4526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7F9FC"/>
                </a:solidFill>
                <a:latin typeface="Aptos"/>
              </a:rPr>
              <a:t>Symmetric 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13048"/>
            <a:ext cx="5166360" cy="1874519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9592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EXPONENTIAL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25112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7F9FC"/>
                </a:solidFill>
                <a:latin typeface="Aptos"/>
              </a:rPr>
              <a:t>λ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672583"/>
            <a:ext cx="452628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E[X] = 2.00 time units</a:t>
            </a:r>
            <a:br/>
            <a:r>
              <a:t>P(X&gt;3) = 22.31%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330952"/>
            <a:ext cx="4526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7F9FC"/>
                </a:solidFill>
                <a:latin typeface="Aptos"/>
              </a:rPr>
              <a:t>Memoryless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813048"/>
            <a:ext cx="5166360" cy="1874519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3995928"/>
            <a:ext cx="2286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CLT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325112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7F9FC"/>
                </a:solidFill>
                <a:latin typeface="Aptos"/>
              </a:rPr>
              <a:t>μ = 120, σ = 15, n =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672583"/>
            <a:ext cx="452628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SE = 2.3717</a:t>
            </a:r>
            <a:br/>
            <a:r>
              <a:t>Z = 2.1082</a:t>
            </a:r>
            <a:br/>
            <a:r>
              <a:t>P(X̄&lt;125) = 98.25%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330952"/>
            <a:ext cx="4526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7F9FC"/>
                </a:solidFill>
                <a:latin typeface="Aptos"/>
              </a:rPr>
              <a:t>Sample mean ≈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The report uses these models for group composition, glucose risk ranges, emergency-arrival waiting times, and sampling-mean inference.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3 —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Confidence Interval &amp; 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95% CI, Z-tests and Welch's two-sample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5166360" cy="425196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95% CI — MEAN GLUCOSE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7F9FC"/>
                </a:solidFill>
                <a:latin typeface="Aptos"/>
              </a:rPr>
              <a:t>n = 64   |   x̄ = 130.00   |   σ =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43200"/>
            <a:ext cx="196596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88036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2.25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30098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Standard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43200"/>
            <a:ext cx="64008" cy="932688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2743200"/>
            <a:ext cx="1965960" cy="932688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288036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1.9600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330098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Critical 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743200"/>
            <a:ext cx="64008" cy="932688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822191"/>
            <a:ext cx="416052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959352"/>
            <a:ext cx="3831335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125.59 – 134.41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379976"/>
            <a:ext cx="3831335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95% CI (mg/dL)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822191"/>
            <a:ext cx="64008" cy="96012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10912"/>
            <a:ext cx="44805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The interval is entirely above the 120 mg/dL reference mean used in the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645920"/>
            <a:ext cx="5303520" cy="425196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883664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WELCH'S t-TEST — DIABETIC vs NON-DIABETIC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267712"/>
            <a:ext cx="4709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Variable        Non-Diabetic       Diabetic       Difference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615184"/>
            <a:ext cx="457200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7F9FC"/>
                </a:solidFill>
                <a:latin typeface="Aptos"/>
              </a:rPr>
              <a:t>Glucose         110.62 ± 24.70    142.30 ± 29.49    +31.68</a:t>
            </a:r>
            <a:br/>
            <a:r>
              <a:t>BMI             30.85 ± 6.50      35.40 ± 6.59       +4.55</a:t>
            </a:r>
            <a:br/>
            <a:r>
              <a:t>Age             31.19 ± 11.67     37.07 ± 10.97      +5.88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4251960"/>
            <a:ext cx="196596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14.9921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0974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Glucose 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4251960"/>
            <a:ext cx="64008" cy="96012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22208" y="4251960"/>
            <a:ext cx="1965960" cy="96012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389120"/>
            <a:ext cx="163677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&lt; 0.001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809744"/>
            <a:ext cx="163677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p-value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22208" y="4251960"/>
            <a:ext cx="64008" cy="960120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440680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7F9FC"/>
                </a:solidFill>
                <a:latin typeface="Aptos"/>
              </a:rPr>
              <a:t>All three comparisons are statistically significant at α = 0.05.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4 —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Pearson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Relationships among clinical variables and diabetes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4892040" cy="443484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59" y="1847088"/>
            <a:ext cx="3850481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577840"/>
            <a:ext cx="4297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97B1CA"/>
                </a:solidFill>
                <a:latin typeface="Aptos"/>
              </a:rPr>
              <a:t>Report Figure 5 — Correlation heatmap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9008" y="1627632"/>
            <a:ext cx="5623560" cy="443484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874519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KEY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304288"/>
            <a:ext cx="265176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7F9FC"/>
                </a:solidFill>
                <a:latin typeface="Aptos"/>
              </a:rPr>
              <a:t>Insulin ↔ 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04288"/>
            <a:ext cx="91440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500" b="1" i="0">
                <a:solidFill>
                  <a:srgbClr val="00C7A6"/>
                </a:solidFill>
                <a:latin typeface="Aptos"/>
              </a:rPr>
              <a:t>0.4900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322576"/>
            <a:ext cx="11430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97B1CA"/>
                </a:solidFill>
                <a:latin typeface="Aptos"/>
              </a:rP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3218688"/>
            <a:ext cx="265176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7F9FC"/>
                </a:solidFill>
                <a:latin typeface="Aptos"/>
              </a:rPr>
              <a:t>Age ↔ BloodPressure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18688"/>
            <a:ext cx="91440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500" b="1" i="0">
                <a:solidFill>
                  <a:srgbClr val="00C7A6"/>
                </a:solidFill>
                <a:latin typeface="Aptos"/>
              </a:rPr>
              <a:t>0.3251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36976"/>
            <a:ext cx="11430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97B1CA"/>
                </a:solidFill>
                <a:latin typeface="Aptos"/>
              </a:rPr>
              <a:t>Weak–Moderate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4133087"/>
            <a:ext cx="265176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7F9FC"/>
                </a:solidFill>
                <a:latin typeface="Aptos"/>
              </a:rPr>
              <a:t>Glucose ↔ BMI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133087"/>
            <a:ext cx="91440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500" b="1" i="0">
                <a:solidFill>
                  <a:srgbClr val="00C7A6"/>
                </a:solidFill>
                <a:latin typeface="Aptos"/>
              </a:rPr>
              <a:t>0.2362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151375"/>
            <a:ext cx="11430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97B1CA"/>
                </a:solidFill>
                <a:latin typeface="Aptos"/>
              </a:rPr>
              <a:t>Weak–Moderate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498348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Outcome correlations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5321808"/>
            <a:ext cx="402336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7F9FC"/>
                </a:solidFill>
                <a:latin typeface="Aptos"/>
              </a:rPr>
              <a:t>Glucose  0.4960</a:t>
            </a:r>
            <a:br/>
            <a:r>
              <a:t>Insulin   0.3771</a:t>
            </a:r>
            <a:br/>
            <a:r>
              <a:t>BMI       0.3156</a:t>
            </a:r>
            <a:br/>
            <a:r>
              <a:t>Age       0.2384</a:t>
            </a:r>
            <a:br/>
            <a:r>
              <a:t>Pregnancies  0.2219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4 —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Simple Linear Regression: Age → Glucose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Model fitted to quantify the linear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4983480" cy="4343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42519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7F9FC"/>
                </a:solidFill>
                <a:latin typeface="Aptos"/>
              </a:rPr>
              <a:t>Glucose = 98.5216 + 0.6966 × 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999232"/>
            <a:ext cx="1874519" cy="914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136391"/>
            <a:ext cx="154533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0.6966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557015"/>
            <a:ext cx="154533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Slope β₁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999232"/>
            <a:ext cx="64008" cy="91440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2999232"/>
            <a:ext cx="1874519" cy="914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3136391"/>
            <a:ext cx="154533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0.2689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3557015"/>
            <a:ext cx="154533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Correlation 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232" y="2999232"/>
            <a:ext cx="64008" cy="9144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" y="4078224"/>
            <a:ext cx="1874519" cy="914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15384"/>
            <a:ext cx="154533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0.0723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636008"/>
            <a:ext cx="154533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4078224"/>
            <a:ext cx="64008" cy="914400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9232" y="4078224"/>
            <a:ext cx="1874519" cy="914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3824" y="4215384"/>
            <a:ext cx="154533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7F9FC"/>
                </a:solidFill>
                <a:latin typeface="Aptos"/>
              </a:rPr>
              <a:t>3.45e−14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636008"/>
            <a:ext cx="154533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7B1CA"/>
                </a:solidFill>
                <a:latin typeface="Aptos"/>
              </a:rPr>
              <a:t>p-value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9232" y="4078224"/>
            <a:ext cx="64008" cy="914400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230368"/>
            <a:ext cx="425196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97B1CA"/>
                </a:solidFill>
                <a:latin typeface="Aptos"/>
              </a:rPr>
              <a:t>Age has a statistically significant positive relationship with glucose, but explains only 7.23% of glucose variation.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1664208"/>
            <a:ext cx="5532120" cy="43434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167" y="1938528"/>
            <a:ext cx="4187536" cy="29717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44768" y="5148072"/>
            <a:ext cx="4983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7B1CA"/>
                </a:solidFill>
                <a:latin typeface="Aptos"/>
              </a:rPr>
              <a:t>Interpretation: about +0.70 mg/dL glucose per additional year of age on average; individual values vary widely.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SECTION 4 —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Risk Factor Strength &amp; Statistical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Glucose shows the strongest observed association with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5577840" cy="45262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376" y="1810512"/>
            <a:ext cx="3795823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715000"/>
            <a:ext cx="5074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97B1CA"/>
                </a:solidFill>
                <a:latin typeface="Aptos"/>
              </a:rPr>
              <a:t>Report Figure 6 — Scatter plot matrix segmented by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627632"/>
            <a:ext cx="4983480" cy="45262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3200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CORRELATION WITH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58568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7F9FC"/>
                </a:solidFill>
                <a:latin typeface="Aptos"/>
              </a:rPr>
              <a:t>Glucose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304288"/>
            <a:ext cx="2086295" cy="146304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16768" y="225856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0.4960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88336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Insulin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734056"/>
            <a:ext cx="1586173" cy="146304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6768" y="268833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0.3771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18104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BMI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163824"/>
            <a:ext cx="1327489" cy="146304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16768" y="31181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0.3156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47872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SkinThickness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593591"/>
            <a:ext cx="1241261" cy="146304"/>
          </a:xfrm>
          <a:prstGeom prst="rect">
            <a:avLst/>
          </a:prstGeom>
          <a:solidFill>
            <a:srgbClr val="F56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16768" y="354787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0.2951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77639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023359"/>
            <a:ext cx="1002767" cy="146304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16768" y="3977639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0.2384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07408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Pregnancies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453128"/>
            <a:ext cx="933364" cy="146304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16768" y="440740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0.2219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37176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BloodPressure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4882896"/>
            <a:ext cx="733988" cy="146304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16768" y="483717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0.1745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66944"/>
            <a:ext cx="1828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F7F9FC"/>
                </a:solidFill>
                <a:latin typeface="Aptos"/>
              </a:rPr>
              <a:t>Pedigree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5312664"/>
            <a:ext cx="731044" cy="146304"/>
          </a:xfrm>
          <a:prstGeom prst="rect">
            <a:avLst/>
          </a:prstGeom>
          <a:solidFill>
            <a:srgbClr val="2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16768" y="526694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F7F9FC"/>
                </a:solidFill>
                <a:latin typeface="Aptos"/>
              </a:rPr>
              <a:t>0.1738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779008"/>
            <a:ext cx="4343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The report classifies Glucose as the primary risk factor; Insulin, BMI, SkinThickness, Age and Pregnancies as moderate; BloodPressure and DiabetesPedigreeFunction as minor.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SUMMARY — ALL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7F9FC"/>
                </a:solidFill>
                <a:latin typeface="Aptos"/>
              </a:rPr>
              <a:t>Key Findings Across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7B1CA"/>
                </a:solidFill>
                <a:latin typeface="Aptos"/>
              </a:rPr>
              <a:t>From data preparation to inference, correlation and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5166360" cy="17830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47088"/>
            <a:ext cx="4480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PHASE 1 —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31136"/>
            <a:ext cx="457200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7F9FC"/>
                </a:solidFill>
                <a:latin typeface="Aptos"/>
              </a:rPr>
              <a:t>768 patients • 9 variables</a:t>
            </a:r>
            <a:br/>
            <a:r>
              <a:t>No null entries reported</a:t>
            </a:r>
            <a:br/>
            <a:r>
              <a:t>Zero clinical values treated as missing 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664208"/>
            <a:ext cx="5166360" cy="17830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847088"/>
            <a:ext cx="4480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PHASE 2 —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2231136"/>
            <a:ext cx="457200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7F9FC"/>
                </a:solidFill>
                <a:latin typeface="Aptos"/>
              </a:rPr>
              <a:t>P(D) = 34.90%</a:t>
            </a:r>
            <a:br/>
            <a:r>
              <a:t>P(D|Glucose&gt;130) = 63.64%</a:t>
            </a:r>
            <a:br/>
            <a:r>
              <a:t>Bayes posterior at &gt;150 = 75.00%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721608"/>
            <a:ext cx="5166360" cy="17830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04488"/>
            <a:ext cx="4480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PHASE 3 —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88536"/>
            <a:ext cx="457200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7F9FC"/>
                </a:solidFill>
                <a:latin typeface="Aptos"/>
              </a:rPr>
              <a:t>95% CI = [125.59, 134.41] mg/dL</a:t>
            </a:r>
            <a:br/>
            <a:r>
              <a:t>Z-test: Glucose &gt; 120 supported</a:t>
            </a:r>
            <a:br/>
            <a:r>
              <a:t>Welch tests: Glucose, BMI, Age differ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3721608"/>
            <a:ext cx="5166360" cy="178308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904488"/>
            <a:ext cx="4480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PHASE 4 —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288536"/>
            <a:ext cx="457200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7F9FC"/>
                </a:solidFill>
                <a:latin typeface="Aptos"/>
              </a:rPr>
              <a:t>Insulin–Glucose r = 0.4900</a:t>
            </a:r>
            <a:br/>
            <a:r>
              <a:t>Age–Glucose r = 0.2689</a:t>
            </a:r>
            <a:br/>
            <a:r>
              <a:t>Age explains 7.23% of glucose variation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852160"/>
            <a:ext cx="10744200" cy="420624"/>
          </a:xfrm>
          <a:prstGeom prst="rect">
            <a:avLst/>
          </a:prstGeom>
          <a:solidFill>
            <a:srgbClr val="13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61888"/>
            <a:ext cx="10287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7F9FC"/>
                </a:solidFill>
                <a:latin typeface="Aptos"/>
              </a:rPr>
              <a:t>Overall: Glucose is consistently the clearest statistical signal associated with diabetes status in this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7A6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685800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7F9FC"/>
                </a:solidFill>
                <a:latin typeface="Aptos"/>
              </a:rPr>
              <a:t>Statistical Investigation of</a:t>
            </a:r>
            <a:br/>
            <a:r>
              <a:t>Diabetes Risk Factors and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03120"/>
            <a:ext cx="5166360" cy="16002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43891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0C7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267712"/>
            <a:ext cx="4069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7F9FC"/>
                </a:solidFill>
                <a:latin typeface="Aptos"/>
              </a:rPr>
              <a:t>Glucose — Primary Risk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651760"/>
            <a:ext cx="4069080" cy="804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Highest correlation with Outcome (r = 0.4960). Probability of diabetes rises to 63.64% for glucose &gt;130 mg/dL and to 75.00% for &gt;150 mg/dL.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2103120"/>
            <a:ext cx="5166360" cy="16002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2286000"/>
            <a:ext cx="43891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0C7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267712"/>
            <a:ext cx="4069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7F9FC"/>
                </a:solidFill>
                <a:latin typeface="Aptos"/>
              </a:rPr>
              <a:t>Group Differences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2651760"/>
            <a:ext cx="4069080" cy="804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Diabetic patients show higher mean Glucose (+31.68 mg/dL), BMI (+4.55 kg/m²) and Age (+5.88 years); all Welch t-tests are significant.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77639"/>
            <a:ext cx="5166360" cy="16002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60520"/>
            <a:ext cx="43891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0C7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142231"/>
            <a:ext cx="4069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7F9FC"/>
                </a:solidFill>
                <a:latin typeface="Aptos"/>
              </a:rPr>
              <a:t>Age — Significant but Weak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4526279"/>
            <a:ext cx="4069080" cy="804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Age has a positive slope of 0.6966 mg/dL/year and p &lt; 0.001, but R² = 7.23%, so age alone explains little individual variation.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977639"/>
            <a:ext cx="5166360" cy="1600200"/>
          </a:xfrm>
          <a:prstGeom prst="rect">
            <a:avLst/>
          </a:prstGeom>
          <a:solidFill>
            <a:srgbClr val="1D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4160520"/>
            <a:ext cx="43891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0C7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4142231"/>
            <a:ext cx="4069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7F9FC"/>
                </a:solidFill>
                <a:latin typeface="Aptos"/>
              </a:rPr>
              <a:t>Limitations &amp; 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4526279"/>
            <a:ext cx="4069080" cy="804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97B1CA"/>
                </a:solidFill>
                <a:latin typeface="Aptos"/>
              </a:rPr>
              <a:t>Associations do not prove causation; groups overlap; zero-valued measurements required preprocessing. A multivariable logistic model is identified in the report as a natural next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09360"/>
            <a:ext cx="8686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Group 2  |  STA 281  |  Southeast University  |  Submitted: 29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97B1CA"/>
                </a:solidFill>
                <a:latin typeface="Aptos"/>
              </a:rPr>
              <a:t>STA 281  |  CEP  |  Southeast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3796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97B1C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